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Epilogue" panose="020B0604020202020204" charset="0"/>
      <p:regular r:id="rId13"/>
    </p:embeddedFont>
    <p:embeddedFont>
      <p:font typeface="Fraunces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92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33536"/>
            <a:ext cx="1860575" cy="260821"/>
          </a:xfrm>
          <a:prstGeom prst="roundRect">
            <a:avLst>
              <a:gd name="adj" fmla="val 17978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475357"/>
            <a:ext cx="169314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BOARD PRESENTATION · MAY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49275"/>
            <a:ext cx="4780359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Cloud.AI Board Presentation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8379" y="1391394"/>
            <a:ext cx="8167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24-Month Forecast · May 2026 – April 2028 · B2B SaaS · USD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8379" y="1767334"/>
            <a:ext cx="2630835" cy="810444"/>
          </a:xfrm>
          <a:prstGeom prst="roundRect">
            <a:avLst>
              <a:gd name="adj" fmla="val 723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668" y="191162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Ending ARR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2668" y="2212032"/>
            <a:ext cx="23422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$1,884,708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6583" y="1767334"/>
            <a:ext cx="2630835" cy="810444"/>
          </a:xfrm>
          <a:prstGeom prst="roundRect">
            <a:avLst>
              <a:gd name="adj" fmla="val 723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0871" y="191162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Ending MRR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0871" y="2212032"/>
            <a:ext cx="23422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$157,059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4786" y="1767334"/>
            <a:ext cx="2630835" cy="810444"/>
          </a:xfrm>
          <a:prstGeom prst="roundRect">
            <a:avLst>
              <a:gd name="adj" fmla="val 723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075" y="191162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Ending Customers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9075" y="2212032"/>
            <a:ext cx="23422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298.4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8379" y="2715146"/>
            <a:ext cx="4014936" cy="810444"/>
          </a:xfrm>
          <a:prstGeom prst="roundRect">
            <a:avLst>
              <a:gd name="adj" fmla="val 723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668" y="285943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Ending Cash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2668" y="3159844"/>
            <a:ext cx="37263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($155,700)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40684" y="2715146"/>
            <a:ext cx="4014936" cy="810444"/>
          </a:xfrm>
          <a:prstGeom prst="roundRect">
            <a:avLst>
              <a:gd name="adj" fmla="val 723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4973" y="285943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Max Funding Need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4973" y="3159844"/>
            <a:ext cx="37263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$252,492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8379" y="3680073"/>
            <a:ext cx="8167241" cy="1029891"/>
          </a:xfrm>
          <a:prstGeom prst="roundRect">
            <a:avLst>
              <a:gd name="adj" fmla="val 5691"/>
            </a:avLst>
          </a:prstGeom>
          <a:solidFill>
            <a:srgbClr val="4B3F02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3879949"/>
            <a:ext cx="174427" cy="13952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41859" y="3852267"/>
            <a:ext cx="757423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Board Decision Required: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Growth is working, but liquidity is not yet self-funded. Cash falls below the $75,000 minimum threshold in </a:t>
            </a:r>
            <a:r>
              <a:rPr lang="en-US" sz="10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Feb-27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turns negative in </a:t>
            </a:r>
            <a:r>
              <a:rPr lang="en-US" sz="10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Apr-27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The board must align on financing timing and operating guardrails before the risk window opens.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2901" y="549176"/>
            <a:ext cx="219566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72901" y="905173"/>
            <a:ext cx="8198197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MRR grows from </a:t>
            </a:r>
            <a:r>
              <a:rPr lang="en-US" sz="6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$28,391</a:t>
            </a: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to </a:t>
            </a:r>
            <a:r>
              <a:rPr lang="en-US" sz="6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$157,059</a:t>
            </a: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a 5.5x increase over 24 months. ARR reaches </a:t>
            </a:r>
            <a:r>
              <a:rPr lang="en-US" sz="6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$1,884,708</a:t>
            </a: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driven entirely by recurring subscription revenue, not one-off services.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72901" y="1080046"/>
            <a:ext cx="332333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39" y="1102891"/>
            <a:ext cx="57150" cy="57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2439" y="1094333"/>
            <a:ext cx="189458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ARR ($)</a:t>
            </a:r>
            <a:endParaRPr lang="en-US" sz="450" dirty="0"/>
          </a:p>
        </p:txBody>
      </p:sp>
      <p:sp>
        <p:nvSpPr>
          <p:cNvPr id="9" name="Shape 6"/>
          <p:cNvSpPr/>
          <p:nvPr/>
        </p:nvSpPr>
        <p:spPr>
          <a:xfrm>
            <a:off x="843335" y="1080046"/>
            <a:ext cx="347663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72" y="1102891"/>
            <a:ext cx="57150" cy="57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2872" y="1094333"/>
            <a:ext cx="204788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MRR ($)</a:t>
            </a:r>
            <a:endParaRPr lang="en-US" sz="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01" y="1230511"/>
            <a:ext cx="5328791" cy="27048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09724" y="4125292"/>
            <a:ext cx="4118372" cy="643979"/>
          </a:xfrm>
          <a:prstGeom prst="roundRect">
            <a:avLst>
              <a:gd name="adj" fmla="val 9820"/>
            </a:avLst>
          </a:prstGeom>
          <a:solidFill>
            <a:srgbClr val="8C98CA"/>
          </a:solidFill>
          <a:ln/>
        </p:spPr>
      </p:sp>
      <p:sp>
        <p:nvSpPr>
          <p:cNvPr id="14" name="Text 9"/>
          <p:cNvSpPr/>
          <p:nvPr/>
        </p:nvSpPr>
        <p:spPr>
          <a:xfrm>
            <a:off x="497532" y="4179689"/>
            <a:ext cx="1097831" cy="1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Growth Drivers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97532" y="4371231"/>
            <a:ext cx="394275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New customers: </a:t>
            </a:r>
            <a:r>
              <a:rPr lang="en-US" sz="6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8.0 → 24.6/month</a:t>
            </a:r>
            <a:r>
              <a:rPr lang="en-US" sz="6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at 5.0% MoM growth</a:t>
            </a:r>
            <a:endParaRPr lang="en-US" sz="65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ARPU uplift: </a:t>
            </a:r>
            <a:r>
              <a:rPr lang="en-US" sz="6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0.5% monthly</a:t>
            </a:r>
            <a:r>
              <a:rPr lang="en-US" sz="6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expansion / price increase</a:t>
            </a:r>
            <a:endParaRPr lang="en-US" sz="65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6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Starting ARPU: </a:t>
            </a:r>
            <a:r>
              <a:rPr lang="en-US" sz="6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$500</a:t>
            </a:r>
            <a:r>
              <a:rPr lang="en-US" sz="6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per customer per month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4683844" y="4179689"/>
            <a:ext cx="1097831" cy="1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Board Pressure-Test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683844" y="4371231"/>
            <a:ext cx="3992017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5.0% monthly new-customer growth is achievable only if GTM capacity, pipeline conversion, and CAC efficiency hold across the full 24-month window. The board should validate sales headcount and pipeline coverage behind this curve.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753963"/>
            <a:ext cx="333166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&amp; Churn Trends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5474"/>
            <a:ext cx="2959596" cy="17395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6466" y="128550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Retention Metrics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06466" y="1541264"/>
            <a:ext cx="3946178" cy="635719"/>
          </a:xfrm>
          <a:prstGeom prst="roundRect">
            <a:avLst>
              <a:gd name="adj" fmla="val 10788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92179" y="1541264"/>
            <a:ext cx="57150" cy="635719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9" name="Text 6"/>
          <p:cNvSpPr/>
          <p:nvPr/>
        </p:nvSpPr>
        <p:spPr>
          <a:xfrm>
            <a:off x="4869879" y="166181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Ending Customers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69879" y="1907604"/>
            <a:ext cx="36622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56.5 → 298.4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over 24 months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6466" y="2256681"/>
            <a:ext cx="3946178" cy="635719"/>
          </a:xfrm>
          <a:prstGeom prst="roundRect">
            <a:avLst>
              <a:gd name="adj" fmla="val 10788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92179" y="2256681"/>
            <a:ext cx="57150" cy="635719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13" name="Text 10"/>
          <p:cNvSpPr/>
          <p:nvPr/>
        </p:nvSpPr>
        <p:spPr>
          <a:xfrm>
            <a:off x="4869879" y="237723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Monthly Churn Rate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69879" y="2623021"/>
            <a:ext cx="36622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3.0%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churned customers rise from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1.5 → 8.5/month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6466" y="2972098"/>
            <a:ext cx="3946178" cy="635719"/>
          </a:xfrm>
          <a:prstGeom prst="roundRect">
            <a:avLst>
              <a:gd name="adj" fmla="val 10788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92179" y="2972098"/>
            <a:ext cx="57150" cy="635719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17" name="Text 14"/>
          <p:cNvSpPr/>
          <p:nvPr/>
        </p:nvSpPr>
        <p:spPr>
          <a:xfrm>
            <a:off x="4869879" y="3092648"/>
            <a:ext cx="14506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Net Revenue Retention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69879" y="3338438"/>
            <a:ext cx="36622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97.5%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below the 100% benchmark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06466" y="3697486"/>
            <a:ext cx="3946178" cy="826443"/>
          </a:xfrm>
          <a:prstGeom prst="roundRect">
            <a:avLst>
              <a:gd name="adj" fmla="val 5403"/>
            </a:avLst>
          </a:prstGeom>
          <a:solidFill>
            <a:srgbClr val="4B3F02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29" y="3842072"/>
            <a:ext cx="132904" cy="1062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51896" y="3803749"/>
            <a:ext cx="349448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NRR below 100% means expansion revenue is </a:t>
            </a:r>
            <a:r>
              <a:rPr lang="en-US" sz="8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not fully offsetting churn</a:t>
            </a:r>
            <a:r>
              <a:rPr lang="en-US" sz="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As the customer base scales, the absolute churn burden rises materially. Retention and upsell motions need explicit ownership and board-level tracking.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8853" y="397073"/>
            <a:ext cx="1633240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Profitability Analysis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8853" y="643905"/>
            <a:ext cx="8446294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EBITDA improves from </a:t>
            </a: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($30,802)</a:t>
            </a: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to </a:t>
            </a: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$12,170</a:t>
            </a: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reaching an </a:t>
            </a: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8.0% margin</a:t>
            </a: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by Apr-28. Margin expansion is real — but it arrives after a sustained loss-making period funded by starting cash.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348853" y="752698"/>
            <a:ext cx="45548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1" y="775543"/>
            <a:ext cx="57150" cy="57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8391" y="766986"/>
            <a:ext cx="31261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Revenue ($)</a:t>
            </a:r>
            <a:endParaRPr lang="en-US" sz="450" dirty="0"/>
          </a:p>
        </p:txBody>
      </p:sp>
      <p:sp>
        <p:nvSpPr>
          <p:cNvPr id="9" name="Shape 6"/>
          <p:cNvSpPr/>
          <p:nvPr/>
        </p:nvSpPr>
        <p:spPr>
          <a:xfrm>
            <a:off x="842442" y="752698"/>
            <a:ext cx="621060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79" y="775543"/>
            <a:ext cx="57150" cy="57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1979" y="766986"/>
            <a:ext cx="478185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Expenses ($)</a:t>
            </a:r>
            <a:endParaRPr lang="en-US" sz="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53" y="903163"/>
            <a:ext cx="5490046" cy="19617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8853" y="3860378"/>
            <a:ext cx="8446294" cy="1006673"/>
          </a:xfrm>
          <a:prstGeom prst="roundRect">
            <a:avLst>
              <a:gd name="adj" fmla="val 270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18505" y="3887614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P&amp;L Line</a:t>
            </a:r>
            <a:endParaRPr lang="en-US" sz="500" dirty="0"/>
          </a:p>
        </p:txBody>
      </p:sp>
      <p:sp>
        <p:nvSpPr>
          <p:cNvPr id="15" name="Text 10"/>
          <p:cNvSpPr/>
          <p:nvPr/>
        </p:nvSpPr>
        <p:spPr>
          <a:xfrm>
            <a:off x="2951857" y="3887614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May-26</a:t>
            </a:r>
            <a:endParaRPr lang="en-US" sz="500" dirty="0"/>
          </a:p>
        </p:txBody>
      </p:sp>
      <p:sp>
        <p:nvSpPr>
          <p:cNvPr id="16" name="Text 11"/>
          <p:cNvSpPr/>
          <p:nvPr/>
        </p:nvSpPr>
        <p:spPr>
          <a:xfrm>
            <a:off x="4639196" y="3887614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Apr-28</a:t>
            </a:r>
            <a:endParaRPr lang="en-US" sz="500" dirty="0"/>
          </a:p>
        </p:txBody>
      </p:sp>
      <p:sp>
        <p:nvSpPr>
          <p:cNvPr id="17" name="Text 12"/>
          <p:cNvSpPr/>
          <p:nvPr/>
        </p:nvSpPr>
        <p:spPr>
          <a:xfrm>
            <a:off x="6326535" y="3887614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Commentary</a:t>
            </a:r>
            <a:endParaRPr lang="en-US" sz="500" dirty="0"/>
          </a:p>
        </p:txBody>
      </p:sp>
      <p:sp>
        <p:nvSpPr>
          <p:cNvPr id="18" name="Text 13"/>
          <p:cNvSpPr/>
          <p:nvPr/>
        </p:nvSpPr>
        <p:spPr>
          <a:xfrm>
            <a:off x="418505" y="4012853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Revenue</a:t>
            </a:r>
            <a:endParaRPr lang="en-US" sz="500" dirty="0"/>
          </a:p>
        </p:txBody>
      </p:sp>
      <p:sp>
        <p:nvSpPr>
          <p:cNvPr id="19" name="Text 14"/>
          <p:cNvSpPr/>
          <p:nvPr/>
        </p:nvSpPr>
        <p:spPr>
          <a:xfrm>
            <a:off x="2951857" y="4012853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$26,696</a:t>
            </a:r>
            <a:endParaRPr lang="en-US" sz="500" dirty="0"/>
          </a:p>
        </p:txBody>
      </p:sp>
      <p:sp>
        <p:nvSpPr>
          <p:cNvPr id="20" name="Text 15"/>
          <p:cNvSpPr/>
          <p:nvPr/>
        </p:nvSpPr>
        <p:spPr>
          <a:xfrm>
            <a:off x="4639196" y="4012853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$152,752</a:t>
            </a:r>
            <a:endParaRPr lang="en-US" sz="500" dirty="0"/>
          </a:p>
        </p:txBody>
      </p:sp>
      <p:sp>
        <p:nvSpPr>
          <p:cNvPr id="21" name="Text 16"/>
          <p:cNvSpPr/>
          <p:nvPr/>
        </p:nvSpPr>
        <p:spPr>
          <a:xfrm>
            <a:off x="6326535" y="4012853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5.7x growth over 24 months</a:t>
            </a:r>
            <a:endParaRPr lang="en-US" sz="500" dirty="0"/>
          </a:p>
        </p:txBody>
      </p:sp>
      <p:sp>
        <p:nvSpPr>
          <p:cNvPr id="22" name="Text 17"/>
          <p:cNvSpPr/>
          <p:nvPr/>
        </p:nvSpPr>
        <p:spPr>
          <a:xfrm>
            <a:off x="418505" y="4138092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Gross Profit</a:t>
            </a:r>
            <a:endParaRPr lang="en-US" sz="500" dirty="0"/>
          </a:p>
        </p:txBody>
      </p:sp>
      <p:sp>
        <p:nvSpPr>
          <p:cNvPr id="23" name="Text 18"/>
          <p:cNvSpPr/>
          <p:nvPr/>
        </p:nvSpPr>
        <p:spPr>
          <a:xfrm>
            <a:off x="2951857" y="4138092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$20,823</a:t>
            </a:r>
            <a:endParaRPr lang="en-US" sz="500" dirty="0"/>
          </a:p>
        </p:txBody>
      </p:sp>
      <p:sp>
        <p:nvSpPr>
          <p:cNvPr id="24" name="Text 19"/>
          <p:cNvSpPr/>
          <p:nvPr/>
        </p:nvSpPr>
        <p:spPr>
          <a:xfrm>
            <a:off x="4639196" y="4138092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$119,147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6326535" y="4138092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Gross margin locked at 78.0%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418505" y="4263330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Sales &amp; Marketing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2951857" y="4263330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$23,800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4639196" y="4263330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$51,763</a:t>
            </a:r>
            <a:endParaRPr lang="en-US" sz="500" dirty="0"/>
          </a:p>
        </p:txBody>
      </p:sp>
      <p:sp>
        <p:nvSpPr>
          <p:cNvPr id="29" name="Text 24"/>
          <p:cNvSpPr/>
          <p:nvPr/>
        </p:nvSpPr>
        <p:spPr>
          <a:xfrm>
            <a:off x="6326535" y="4263330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Largest opex bucket — tie to CAC payback</a:t>
            </a:r>
            <a:endParaRPr lang="en-US" sz="500" dirty="0"/>
          </a:p>
        </p:txBody>
      </p:sp>
      <p:sp>
        <p:nvSpPr>
          <p:cNvPr id="30" name="Text 25"/>
          <p:cNvSpPr/>
          <p:nvPr/>
        </p:nvSpPr>
        <p:spPr>
          <a:xfrm>
            <a:off x="418505" y="4388569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R&amp;D / Product</a:t>
            </a:r>
            <a:endParaRPr lang="en-US" sz="500" dirty="0"/>
          </a:p>
        </p:txBody>
      </p:sp>
      <p:sp>
        <p:nvSpPr>
          <p:cNvPr id="31" name="Text 26"/>
          <p:cNvSpPr/>
          <p:nvPr/>
        </p:nvSpPr>
        <p:spPr>
          <a:xfrm>
            <a:off x="2951857" y="4388569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$14,350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4639196" y="4388569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$34,641</a:t>
            </a:r>
            <a:endParaRPr lang="en-US" sz="500" dirty="0"/>
          </a:p>
        </p:txBody>
      </p:sp>
      <p:sp>
        <p:nvSpPr>
          <p:cNvPr id="33" name="Text 28"/>
          <p:cNvSpPr/>
          <p:nvPr/>
        </p:nvSpPr>
        <p:spPr>
          <a:xfrm>
            <a:off x="6326535" y="4388569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Scales with product investment</a:t>
            </a:r>
            <a:endParaRPr lang="en-US" sz="500" dirty="0"/>
          </a:p>
        </p:txBody>
      </p:sp>
      <p:sp>
        <p:nvSpPr>
          <p:cNvPr id="34" name="Text 29"/>
          <p:cNvSpPr/>
          <p:nvPr/>
        </p:nvSpPr>
        <p:spPr>
          <a:xfrm>
            <a:off x="418505" y="4513808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G&amp;A</a:t>
            </a:r>
            <a:endParaRPr lang="en-US" sz="500" dirty="0"/>
          </a:p>
        </p:txBody>
      </p:sp>
      <p:sp>
        <p:nvSpPr>
          <p:cNvPr id="35" name="Text 30"/>
          <p:cNvSpPr/>
          <p:nvPr/>
        </p:nvSpPr>
        <p:spPr>
          <a:xfrm>
            <a:off x="2951857" y="4513808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$13,475</a:t>
            </a:r>
            <a:endParaRPr lang="en-US" sz="500" dirty="0"/>
          </a:p>
        </p:txBody>
      </p:sp>
      <p:sp>
        <p:nvSpPr>
          <p:cNvPr id="36" name="Text 31"/>
          <p:cNvSpPr/>
          <p:nvPr/>
        </p:nvSpPr>
        <p:spPr>
          <a:xfrm>
            <a:off x="4639196" y="4513808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$20,572</a:t>
            </a:r>
            <a:endParaRPr lang="en-US" sz="500" dirty="0"/>
          </a:p>
        </p:txBody>
      </p:sp>
      <p:sp>
        <p:nvSpPr>
          <p:cNvPr id="37" name="Text 32"/>
          <p:cNvSpPr/>
          <p:nvPr/>
        </p:nvSpPr>
        <p:spPr>
          <a:xfrm>
            <a:off x="6326535" y="4513808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Includes $15,000 one-time legal in month 12</a:t>
            </a:r>
            <a:endParaRPr lang="en-US" sz="500" dirty="0"/>
          </a:p>
        </p:txBody>
      </p:sp>
      <p:sp>
        <p:nvSpPr>
          <p:cNvPr id="38" name="Text 33"/>
          <p:cNvSpPr/>
          <p:nvPr/>
        </p:nvSpPr>
        <p:spPr>
          <a:xfrm>
            <a:off x="418505" y="4639047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Opex</a:t>
            </a:r>
            <a:endParaRPr lang="en-US" sz="500" dirty="0"/>
          </a:p>
        </p:txBody>
      </p:sp>
      <p:sp>
        <p:nvSpPr>
          <p:cNvPr id="39" name="Text 34"/>
          <p:cNvSpPr/>
          <p:nvPr/>
        </p:nvSpPr>
        <p:spPr>
          <a:xfrm>
            <a:off x="2951857" y="4639047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$51,625</a:t>
            </a:r>
            <a:endParaRPr lang="en-US" sz="500" dirty="0"/>
          </a:p>
        </p:txBody>
      </p:sp>
      <p:sp>
        <p:nvSpPr>
          <p:cNvPr id="40" name="Text 35"/>
          <p:cNvSpPr/>
          <p:nvPr/>
        </p:nvSpPr>
        <p:spPr>
          <a:xfrm>
            <a:off x="4639196" y="4639047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$106,977</a:t>
            </a:r>
            <a:endParaRPr lang="en-US" sz="500" dirty="0"/>
          </a:p>
        </p:txBody>
      </p:sp>
      <p:sp>
        <p:nvSpPr>
          <p:cNvPr id="41" name="Text 36"/>
          <p:cNvSpPr/>
          <p:nvPr/>
        </p:nvSpPr>
        <p:spPr>
          <a:xfrm>
            <a:off x="6326535" y="4639047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 driver of burn until revenue scales</a:t>
            </a:r>
            <a:endParaRPr lang="en-US" sz="500" dirty="0"/>
          </a:p>
        </p:txBody>
      </p:sp>
      <p:sp>
        <p:nvSpPr>
          <p:cNvPr id="42" name="Text 37"/>
          <p:cNvSpPr/>
          <p:nvPr/>
        </p:nvSpPr>
        <p:spPr>
          <a:xfrm>
            <a:off x="418505" y="4764286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EBITDA</a:t>
            </a:r>
            <a:endParaRPr lang="en-US" sz="500" dirty="0"/>
          </a:p>
        </p:txBody>
      </p:sp>
      <p:sp>
        <p:nvSpPr>
          <p:cNvPr id="43" name="Text 38"/>
          <p:cNvSpPr/>
          <p:nvPr/>
        </p:nvSpPr>
        <p:spPr>
          <a:xfrm>
            <a:off x="2951857" y="4764286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($30,802)</a:t>
            </a:r>
            <a:endParaRPr lang="en-US" sz="500" dirty="0"/>
          </a:p>
        </p:txBody>
      </p:sp>
      <p:sp>
        <p:nvSpPr>
          <p:cNvPr id="44" name="Text 39"/>
          <p:cNvSpPr/>
          <p:nvPr/>
        </p:nvSpPr>
        <p:spPr>
          <a:xfrm>
            <a:off x="4639196" y="4764286"/>
            <a:ext cx="1553096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$12,170</a:t>
            </a:r>
            <a:endParaRPr lang="en-US" sz="500" dirty="0"/>
          </a:p>
        </p:txBody>
      </p:sp>
      <p:sp>
        <p:nvSpPr>
          <p:cNvPr id="45" name="Text 40"/>
          <p:cNvSpPr/>
          <p:nvPr/>
        </p:nvSpPr>
        <p:spPr>
          <a:xfrm>
            <a:off x="6326535" y="4764286"/>
            <a:ext cx="2399109" cy="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Margin: -115.4% → 8.0%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3101" y="475506"/>
            <a:ext cx="187173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Cash Runway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03101" y="768697"/>
            <a:ext cx="8337798" cy="9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Starting cash of </a:t>
            </a:r>
            <a:r>
              <a:rPr lang="en-US" sz="5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$400,000</a:t>
            </a: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is fully consumed by Apr-27. The board must act before the </a:t>
            </a:r>
            <a:r>
              <a:rPr lang="en-US" sz="5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Feb-27 minimum threshold breach</a:t>
            </a: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not after.</a:t>
            </a:r>
            <a:endParaRPr lang="en-US" sz="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01" y="904577"/>
            <a:ext cx="5419502" cy="243825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01" y="904577"/>
            <a:ext cx="5419502" cy="24096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9225" y="3983906"/>
            <a:ext cx="4185345" cy="827336"/>
          </a:xfrm>
          <a:prstGeom prst="roundRect">
            <a:avLst>
              <a:gd name="adj" fmla="val 6516"/>
            </a:avLst>
          </a:prstGeom>
          <a:solidFill>
            <a:srgbClr val="8C98CA"/>
          </a:solidFill>
          <a:ln/>
        </p:spPr>
      </p:sp>
      <p:sp>
        <p:nvSpPr>
          <p:cNvPr id="9" name="Text 5"/>
          <p:cNvSpPr/>
          <p:nvPr/>
        </p:nvSpPr>
        <p:spPr>
          <a:xfrm>
            <a:off x="424086" y="4023420"/>
            <a:ext cx="935831" cy="116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Runway Milestones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24086" y="4179912"/>
            <a:ext cx="4035623" cy="61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7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Starting cash: </a:t>
            </a:r>
            <a:r>
              <a:rPr lang="en-US" sz="5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$400,000</a:t>
            </a:r>
            <a:endParaRPr lang="en-US" sz="550" dirty="0"/>
          </a:p>
          <a:p>
            <a:pPr marL="342900" indent="-342900" algn="l">
              <a:lnSpc>
                <a:spcPts val="7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Cash below $75K minimum: </a:t>
            </a:r>
            <a:r>
              <a:rPr lang="en-US" sz="5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Feb-27</a:t>
            </a:r>
            <a:endParaRPr lang="en-US" sz="550" dirty="0"/>
          </a:p>
          <a:p>
            <a:pPr marL="342900" indent="-342900" algn="l">
              <a:lnSpc>
                <a:spcPts val="7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Cash turns negative: </a:t>
            </a:r>
            <a:r>
              <a:rPr lang="en-US" sz="5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Apr-27</a:t>
            </a:r>
            <a:endParaRPr lang="en-US" sz="550" dirty="0"/>
          </a:p>
          <a:p>
            <a:pPr marL="342900" indent="-342900" algn="l">
              <a:lnSpc>
                <a:spcPts val="7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Peak net burn: </a:t>
            </a:r>
            <a:r>
              <a:rPr lang="en-US" sz="5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$48,515/month</a:t>
            </a:r>
            <a:endParaRPr lang="en-US" sz="550" dirty="0"/>
          </a:p>
          <a:p>
            <a:pPr marL="342900" indent="-342900" algn="l">
              <a:lnSpc>
                <a:spcPts val="7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Max funding need: </a:t>
            </a:r>
            <a:r>
              <a:rPr lang="en-US" sz="5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$252,492</a:t>
            </a:r>
            <a:endParaRPr lang="en-US" sz="550" dirty="0"/>
          </a:p>
          <a:p>
            <a:pPr marL="342900" indent="-342900" algn="l">
              <a:lnSpc>
                <a:spcPts val="700"/>
              </a:lnSpc>
              <a:buSzPct val="100000"/>
              <a:buChar char="•"/>
            </a:pPr>
            <a:r>
              <a:rPr lang="en-US" sz="5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Ending cash: </a:t>
            </a:r>
            <a:r>
              <a:rPr lang="en-US" sz="55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($155,700)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4668069" y="4023420"/>
            <a:ext cx="935831" cy="116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Board Decision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668069" y="4179912"/>
            <a:ext cx="4077593" cy="18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is the clearest board decision slide in the deck. The model shows negative cash even as EBITDA turns positive late in the plan — meaning the business is structurally sound but needs a capital bridge.</a:t>
            </a:r>
            <a:endParaRPr lang="en-US" sz="550" dirty="0"/>
          </a:p>
        </p:txBody>
      </p:sp>
      <p:sp>
        <p:nvSpPr>
          <p:cNvPr id="13" name="Shape 9"/>
          <p:cNvSpPr/>
          <p:nvPr/>
        </p:nvSpPr>
        <p:spPr>
          <a:xfrm>
            <a:off x="4668069" y="4407247"/>
            <a:ext cx="4077593" cy="314102"/>
          </a:xfrm>
          <a:prstGeom prst="roundRect">
            <a:avLst>
              <a:gd name="adj" fmla="val 10011"/>
            </a:avLst>
          </a:prstGeom>
          <a:solidFill>
            <a:srgbClr val="45070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929" y="4500786"/>
            <a:ext cx="93538" cy="748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11328" y="4465439"/>
            <a:ext cx="3759473" cy="18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Management should raise </a:t>
            </a:r>
            <a:r>
              <a:rPr lang="en-US" sz="5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above</a:t>
            </a:r>
            <a:r>
              <a:rPr lang="en-US" sz="5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the modeled $252,492 shortfall to allow execution buffer. Financing work must begin </a:t>
            </a:r>
            <a:r>
              <a:rPr lang="en-US" sz="5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now</a:t>
            </a:r>
            <a:r>
              <a:rPr lang="en-US" sz="5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not when the threshold is breached.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17339"/>
            <a:ext cx="23037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SaaS KPI Review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6119" y="995139"/>
            <a:ext cx="8151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Unit economics are attractive. The board should pressure-test CAC definition and approve a retention plan to move NRR above 100%.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96119" y="1251421"/>
            <a:ext cx="3963516" cy="650304"/>
          </a:xfrm>
          <a:prstGeom prst="roundRect">
            <a:avLst>
              <a:gd name="adj" fmla="val 5951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5644" y="1260946"/>
            <a:ext cx="368573" cy="631254"/>
          </a:xfrm>
          <a:prstGeom prst="roundRect">
            <a:avLst>
              <a:gd name="adj" fmla="val 7399"/>
            </a:avLst>
          </a:prstGeom>
          <a:solidFill>
            <a:srgbClr val="2831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55" y="1507480"/>
            <a:ext cx="138187" cy="1381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4045" y="1353071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34045" y="1556891"/>
            <a:ext cx="3423940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78.0%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locked to target. Strong SaaS profile. Maintained across all 24 months.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96119" y="1961555"/>
            <a:ext cx="3963516" cy="552822"/>
          </a:xfrm>
          <a:prstGeom prst="roundRect">
            <a:avLst>
              <a:gd name="adj" fmla="val 7001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5644" y="1971080"/>
            <a:ext cx="368573" cy="533772"/>
          </a:xfrm>
          <a:prstGeom prst="roundRect">
            <a:avLst>
              <a:gd name="adj" fmla="val 7399"/>
            </a:avLst>
          </a:prstGeom>
          <a:solidFill>
            <a:srgbClr val="28315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455" y="2168872"/>
            <a:ext cx="138187" cy="1381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4045" y="2063204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34045" y="2267024"/>
            <a:ext cx="342394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8.0%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by Apr-28, up from -115.4% in May-26. Improving trajectory confirmed.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496119" y="2574206"/>
            <a:ext cx="3963516" cy="650304"/>
          </a:xfrm>
          <a:prstGeom prst="roundRect">
            <a:avLst>
              <a:gd name="adj" fmla="val 5951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5644" y="2583731"/>
            <a:ext cx="368573" cy="631254"/>
          </a:xfrm>
          <a:prstGeom prst="roundRect">
            <a:avLst>
              <a:gd name="adj" fmla="val 7399"/>
            </a:avLst>
          </a:prstGeom>
          <a:solidFill>
            <a:srgbClr val="28315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55" y="2830264"/>
            <a:ext cx="138187" cy="1381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4045" y="2675855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LTV:CAC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34045" y="2879675"/>
            <a:ext cx="3423940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10.8x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strong. Board should confirm CAC is fully loaded before external use.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496119" y="3284339"/>
            <a:ext cx="3963516" cy="650304"/>
          </a:xfrm>
          <a:prstGeom prst="roundRect">
            <a:avLst>
              <a:gd name="adj" fmla="val 5951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5644" y="3293864"/>
            <a:ext cx="368573" cy="631254"/>
          </a:xfrm>
          <a:prstGeom prst="roundRect">
            <a:avLst>
              <a:gd name="adj" fmla="val 7399"/>
            </a:avLst>
          </a:prstGeom>
          <a:solidFill>
            <a:srgbClr val="28315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455" y="3540398"/>
            <a:ext cx="138187" cy="1381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045" y="3385989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NRR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34045" y="3589809"/>
            <a:ext cx="3423940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97.5%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below 100% benchmark. Expansion not fully offsetting churn. Needs a plan.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496119" y="3994472"/>
            <a:ext cx="3963516" cy="650304"/>
          </a:xfrm>
          <a:prstGeom prst="roundRect">
            <a:avLst>
              <a:gd name="adj" fmla="val 5951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05644" y="4003997"/>
            <a:ext cx="368573" cy="631254"/>
          </a:xfrm>
          <a:prstGeom prst="roundRect">
            <a:avLst>
              <a:gd name="adj" fmla="val 7399"/>
            </a:avLst>
          </a:prstGeom>
          <a:solidFill>
            <a:srgbClr val="283157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455" y="4250531"/>
            <a:ext cx="138187" cy="1381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4045" y="4096122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Ending Cash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34045" y="4299942"/>
            <a:ext cx="3423940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($155,700)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red. Financing required before Feb-27 minimum threshold breach.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4689128" y="1243905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KPI Scorecard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689128" y="1455241"/>
            <a:ext cx="3963516" cy="2235250"/>
          </a:xfrm>
          <a:prstGeom prst="roundRect">
            <a:avLst>
              <a:gd name="adj" fmla="val 173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786164" y="1500634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KPI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6172423" y="1500634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Value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7160865" y="1500634"/>
            <a:ext cx="40406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Status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7753945" y="1500634"/>
            <a:ext cx="801812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4786164" y="1708249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Gross Margin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6172423" y="1708249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78.0%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7160865" y="1708249"/>
            <a:ext cx="404068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🟢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Green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7753945" y="1708249"/>
            <a:ext cx="80181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Maintain cost discipline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4786164" y="2046982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EBITDA Margin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6172423" y="2046982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8.0%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7160865" y="2046982"/>
            <a:ext cx="404068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🟢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Green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7753945" y="2046982"/>
            <a:ext cx="80181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Gate opex to preserve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4786164" y="2385715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LTV:CAC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6172423" y="2385715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10.8x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7160865" y="2385715"/>
            <a:ext cx="404068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🟢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Green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7753945" y="2385715"/>
            <a:ext cx="80181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Validate fully loaded CAC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4786164" y="2724448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NRR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6172423" y="2724448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97.5%</a:t>
            </a:r>
            <a:endParaRPr lang="en-US" sz="700" dirty="0"/>
          </a:p>
        </p:txBody>
      </p:sp>
      <p:sp>
        <p:nvSpPr>
          <p:cNvPr id="51" name="Text 44"/>
          <p:cNvSpPr/>
          <p:nvPr/>
        </p:nvSpPr>
        <p:spPr>
          <a:xfrm>
            <a:off x="7160865" y="2724448"/>
            <a:ext cx="404068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🟡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Amber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7753945" y="2724448"/>
            <a:ext cx="80181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Retention plan required</a:t>
            </a:r>
            <a:endParaRPr lang="en-US" sz="700" dirty="0"/>
          </a:p>
        </p:txBody>
      </p:sp>
      <p:sp>
        <p:nvSpPr>
          <p:cNvPr id="53" name="Text 46"/>
          <p:cNvSpPr/>
          <p:nvPr/>
        </p:nvSpPr>
        <p:spPr>
          <a:xfrm>
            <a:off x="4786164" y="3063180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Monthly Churn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6172423" y="3063180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3.0%</a:t>
            </a:r>
            <a:endParaRPr lang="en-US" sz="700" dirty="0"/>
          </a:p>
        </p:txBody>
      </p:sp>
      <p:sp>
        <p:nvSpPr>
          <p:cNvPr id="55" name="Text 48"/>
          <p:cNvSpPr/>
          <p:nvPr/>
        </p:nvSpPr>
        <p:spPr>
          <a:xfrm>
            <a:off x="7160865" y="3063180"/>
            <a:ext cx="404068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🟡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Amber</a:t>
            </a:r>
            <a:endParaRPr lang="en-US" sz="700" dirty="0"/>
          </a:p>
        </p:txBody>
      </p:sp>
      <p:sp>
        <p:nvSpPr>
          <p:cNvPr id="56" name="Text 49"/>
          <p:cNvSpPr/>
          <p:nvPr/>
        </p:nvSpPr>
        <p:spPr>
          <a:xfrm>
            <a:off x="7753945" y="3063180"/>
            <a:ext cx="80181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Churn cohort tracking</a:t>
            </a:r>
            <a:endParaRPr lang="en-US" sz="700" dirty="0"/>
          </a:p>
        </p:txBody>
      </p:sp>
      <p:sp>
        <p:nvSpPr>
          <p:cNvPr id="57" name="Text 50"/>
          <p:cNvSpPr/>
          <p:nvPr/>
        </p:nvSpPr>
        <p:spPr>
          <a:xfrm>
            <a:off x="4786164" y="3401913"/>
            <a:ext cx="1197248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Ending Cash</a:t>
            </a:r>
            <a:endParaRPr lang="en-US" sz="700" dirty="0"/>
          </a:p>
        </p:txBody>
      </p:sp>
      <p:sp>
        <p:nvSpPr>
          <p:cNvPr id="58" name="Text 51"/>
          <p:cNvSpPr/>
          <p:nvPr/>
        </p:nvSpPr>
        <p:spPr>
          <a:xfrm>
            <a:off x="6172423" y="3401913"/>
            <a:ext cx="79943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($155,700)</a:t>
            </a:r>
            <a:endParaRPr lang="en-US" sz="700" dirty="0"/>
          </a:p>
        </p:txBody>
      </p:sp>
      <p:sp>
        <p:nvSpPr>
          <p:cNvPr id="59" name="Text 52"/>
          <p:cNvSpPr/>
          <p:nvPr/>
        </p:nvSpPr>
        <p:spPr>
          <a:xfrm>
            <a:off x="7160865" y="3401913"/>
            <a:ext cx="404068" cy="13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🔴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Red</a:t>
            </a:r>
            <a:endParaRPr lang="en-US" sz="700" dirty="0"/>
          </a:p>
        </p:txBody>
      </p:sp>
      <p:sp>
        <p:nvSpPr>
          <p:cNvPr id="60" name="Text 53"/>
          <p:cNvSpPr/>
          <p:nvPr/>
        </p:nvSpPr>
        <p:spPr>
          <a:xfrm>
            <a:off x="7753945" y="3401913"/>
            <a:ext cx="80181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Begin financing now</a:t>
            </a:r>
            <a:endParaRPr lang="en-US" sz="700" dirty="0"/>
          </a:p>
        </p:txBody>
      </p:sp>
      <p:sp>
        <p:nvSpPr>
          <p:cNvPr id="61" name="Shape 54"/>
          <p:cNvSpPr/>
          <p:nvPr/>
        </p:nvSpPr>
        <p:spPr>
          <a:xfrm>
            <a:off x="4689128" y="3757836"/>
            <a:ext cx="3963516" cy="547539"/>
          </a:xfrm>
          <a:prstGeom prst="roundRect">
            <a:avLst>
              <a:gd name="adj" fmla="val 7068"/>
            </a:avLst>
          </a:prstGeom>
          <a:solidFill>
            <a:srgbClr val="181E34"/>
          </a:solidFill>
          <a:ln/>
        </p:spPr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1252" y="3873252"/>
            <a:ext cx="115119" cy="92125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4988496" y="3840659"/>
            <a:ext cx="3572024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CAC is modeled at </a:t>
            </a:r>
            <a:r>
              <a:rPr lang="en-US" sz="7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$1,200 per new customer</a:t>
            </a: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Board should confirm this is fully loaded (including S&amp;M headcount, tools, and overhead) before using LTV:CAC in investor materials.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920502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Scenario Analysis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334765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Liquidity is highly sensitive to acquisition pace and churn. Conservative funding need is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$433,118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versus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$230,700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base and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$28,283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upside.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Finance against downside. Operate against base.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1761009"/>
            <a:ext cx="481905" cy="93464"/>
          </a:xfrm>
          <a:prstGeom prst="roundRect">
            <a:avLst>
              <a:gd name="adj" fmla="val 77045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54" y="1781994"/>
            <a:ext cx="51420" cy="514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5089" y="1774329"/>
            <a:ext cx="352499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Ending ARR ($)</a:t>
            </a:r>
            <a:endParaRPr lang="en-US" sz="400" dirty="0"/>
          </a:p>
        </p:txBody>
      </p:sp>
      <p:sp>
        <p:nvSpPr>
          <p:cNvPr id="9" name="Shape 6"/>
          <p:cNvSpPr/>
          <p:nvPr/>
        </p:nvSpPr>
        <p:spPr>
          <a:xfrm>
            <a:off x="1016124" y="1761009"/>
            <a:ext cx="543669" cy="93464"/>
          </a:xfrm>
          <a:prstGeom prst="roundRect">
            <a:avLst>
              <a:gd name="adj" fmla="val 77045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559" y="1781994"/>
            <a:ext cx="51420" cy="514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095" y="1774329"/>
            <a:ext cx="414263" cy="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EBECE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Funding Need ($)</a:t>
            </a:r>
            <a:endParaRPr lang="en-US" sz="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897335"/>
            <a:ext cx="2768352" cy="148843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97760" y="1761009"/>
            <a:ext cx="3954884" cy="1899196"/>
          </a:xfrm>
          <a:prstGeom prst="roundRect">
            <a:avLst>
              <a:gd name="adj" fmla="val 219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02014" y="1812206"/>
            <a:ext cx="58824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Scenario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5593407" y="1812206"/>
            <a:ext cx="388590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New Cust. Growth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6185148" y="1812206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Churn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6776889" y="1812206"/>
            <a:ext cx="388590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ARPU Uplift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7368629" y="1812206"/>
            <a:ext cx="118005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Ending ARR / Cash / Funding Need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802014" y="2314798"/>
            <a:ext cx="588243" cy="414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🔴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Conservative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5593407" y="2314798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2.0%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6185148" y="2314798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4.0%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776889" y="2314798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0.2%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368629" y="2314798"/>
            <a:ext cx="1180058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ARR $1,209,983 · Cash ($358,118) · Need $433,118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802014" y="2826916"/>
            <a:ext cx="588243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🟡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Base Case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5593407" y="2826916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5.0%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185148" y="2826916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3.0%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776889" y="2826916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0.5%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7368629" y="2826916"/>
            <a:ext cx="1180058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ARR $1,884,708 · Cash ($155,700) · Need $230,700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4802014" y="3329508"/>
            <a:ext cx="588243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🟢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Optimistic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5593407" y="3329508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8.0%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185148" y="3329508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2.0%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6776889" y="3329508"/>
            <a:ext cx="38859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0.8%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7368629" y="3329508"/>
            <a:ext cx="1180058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ARR $2,559,434 · Cash $46,717 · Need $28,283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697760" y="3738339"/>
            <a:ext cx="3954884" cy="611237"/>
          </a:xfrm>
          <a:prstGeom prst="roundRect">
            <a:avLst>
              <a:gd name="adj" fmla="val 6819"/>
            </a:avLst>
          </a:prstGeom>
          <a:solidFill>
            <a:srgbClr val="4B3F02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954" y="3865959"/>
            <a:ext cx="123974" cy="9919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20121" y="3832547"/>
            <a:ext cx="3533329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Key insight:</a:t>
            </a:r>
            <a:r>
              <a:rPr lang="en-US" sz="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Moving from base to conservative — just 3% slower growth and 1% higher churn — nearly doubles the funding need from $230,700 to $433,118. Capital buffer sizing must reflect this sensitivity.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823913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Risks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1275755"/>
            <a:ext cx="8151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Five board-level risks identified. Liquidity timing is the only red-rated risk. All others are amber and require assigned owners before the next monthly review.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6119" y="1514252"/>
            <a:ext cx="2664098" cy="1400473"/>
          </a:xfrm>
          <a:prstGeom prst="roundRect">
            <a:avLst>
              <a:gd name="adj" fmla="val 4897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1831" y="1514252"/>
            <a:ext cx="57150" cy="1400473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8" name="Text 6"/>
          <p:cNvSpPr/>
          <p:nvPr/>
        </p:nvSpPr>
        <p:spPr>
          <a:xfrm>
            <a:off x="659532" y="1634803"/>
            <a:ext cx="1670596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🔴</a:t>
            </a: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Liquidity Timing — </a:t>
            </a:r>
            <a:r>
              <a:rPr lang="en-US" sz="1000" dirty="0">
                <a:solidFill>
                  <a:srgbClr val="CC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9532" y="1853431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Ending cash ($155,700). Cash below $75K minimum in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Feb-27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negative in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Apr-27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Max funding need $252,492.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9532" y="2347689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Owner: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CEO / CFO ·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Begin financing preparation immediately. Size raise above modeled need.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9914" y="1514252"/>
            <a:ext cx="2664098" cy="1400473"/>
          </a:xfrm>
          <a:prstGeom prst="roundRect">
            <a:avLst>
              <a:gd name="adj" fmla="val 4897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5626" y="1514252"/>
            <a:ext cx="57150" cy="1400473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3403327" y="1634803"/>
            <a:ext cx="1843460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🟡</a:t>
            </a: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Retention / NRR — </a:t>
            </a:r>
            <a:r>
              <a:rPr lang="en-US" sz="1000" dirty="0">
                <a:solidFill>
                  <a:srgbClr val="B8860B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Amber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3327" y="1853431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NRR is 97.5%, below the 100% benchmark. Expansion revenue is not fully offsetting churn at current rates.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03327" y="2347689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Owner: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Customer Success / GTM ·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Build and present retention and expansion plan at next board meeting.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3709" y="1514252"/>
            <a:ext cx="2664098" cy="1400473"/>
          </a:xfrm>
          <a:prstGeom prst="roundRect">
            <a:avLst>
              <a:gd name="adj" fmla="val 4897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9422" y="1514252"/>
            <a:ext cx="57150" cy="1400473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18" name="Text 16"/>
          <p:cNvSpPr/>
          <p:nvPr/>
        </p:nvSpPr>
        <p:spPr>
          <a:xfrm>
            <a:off x="6147122" y="1634803"/>
            <a:ext cx="1694259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🟡</a:t>
            </a: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Churn Scaling — </a:t>
            </a:r>
            <a:r>
              <a:rPr lang="en-US" sz="1000" dirty="0">
                <a:solidFill>
                  <a:srgbClr val="B8860B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Amber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7122" y="1853431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Monthly churn 3.0%. Churned customers rise from 1.5 to 8.5/month as the base grows — a rising absolute retention burden.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7122" y="2347689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Owner: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Customer Success ·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Implement churn reason tracking and save plays before cohort count scales further.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6119" y="2994422"/>
            <a:ext cx="2664098" cy="1549301"/>
          </a:xfrm>
          <a:prstGeom prst="roundRect">
            <a:avLst>
              <a:gd name="adj" fmla="val 4427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831" y="2994422"/>
            <a:ext cx="57150" cy="1549301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23" name="Text 21"/>
          <p:cNvSpPr/>
          <p:nvPr/>
        </p:nvSpPr>
        <p:spPr>
          <a:xfrm>
            <a:off x="659532" y="3114973"/>
            <a:ext cx="2063428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🟡</a:t>
            </a: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Opex Commitments — </a:t>
            </a:r>
            <a:r>
              <a:rPr lang="en-US" sz="1000" dirty="0">
                <a:solidFill>
                  <a:srgbClr val="B8860B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Amber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9532" y="3333601"/>
            <a:ext cx="238013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opex grows from $51,625 to $106,977/month. S&amp;M is the largest bucket at $51,763 in Apr-28. One-time G&amp;A legal spend of $15,000 in month 12.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9532" y="3976688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Owner: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CFO / Function Heads ·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Gate discretionary spend to CAC payback and cash runway triggers.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39914" y="2994422"/>
            <a:ext cx="2664098" cy="1549301"/>
          </a:xfrm>
          <a:prstGeom prst="roundRect">
            <a:avLst>
              <a:gd name="adj" fmla="val 4427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5626" y="2994422"/>
            <a:ext cx="57150" cy="1549301"/>
          </a:xfrm>
          <a:prstGeom prst="roundRect">
            <a:avLst>
              <a:gd name="adj" fmla="val 78140"/>
            </a:avLst>
          </a:prstGeom>
          <a:solidFill>
            <a:srgbClr val="8C98CA"/>
          </a:solidFill>
          <a:ln/>
        </p:spPr>
      </p:sp>
      <p:sp>
        <p:nvSpPr>
          <p:cNvPr id="28" name="Text 26"/>
          <p:cNvSpPr/>
          <p:nvPr/>
        </p:nvSpPr>
        <p:spPr>
          <a:xfrm>
            <a:off x="3403327" y="3114973"/>
            <a:ext cx="2064023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🟡</a:t>
            </a: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CAC Definition Risk — </a:t>
            </a:r>
            <a:r>
              <a:rPr lang="en-US" sz="1000" dirty="0">
                <a:solidFill>
                  <a:srgbClr val="B8860B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Amber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3327" y="3333601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LTV:CAC is strong at 10.8x, but CAC is modeled at $1,200/customer. Must be confirmed as fully loaded before investor use.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03327" y="3827859"/>
            <a:ext cx="2380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Owner: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Finance / GTM · </a:t>
            </a:r>
            <a:r>
              <a:rPr lang="en-US" sz="8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Action: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Reconcile CAC inputs (headcount, tools, overhead) before next fundraise.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98674"/>
            <a:ext cx="273077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Recommended Actions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112937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Management should start fundraising preparation, gate opex before the burn peak, and build a retention plan to move NRR above 100%. Anchored to: cash below minimum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Feb-27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peak burn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$48,515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funding need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$252,492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NRR </a:t>
            </a: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97.5%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2913087"/>
            <a:ext cx="8151763" cy="14288"/>
          </a:xfrm>
          <a:prstGeom prst="roundRect">
            <a:avLst>
              <a:gd name="adj" fmla="val 291711"/>
            </a:avLst>
          </a:prstGeom>
          <a:solidFill>
            <a:srgbClr val="414A70"/>
          </a:solidFill>
          <a:ln/>
        </p:spPr>
      </p:sp>
      <p:sp>
        <p:nvSpPr>
          <p:cNvPr id="7" name="Shape 5"/>
          <p:cNvSpPr/>
          <p:nvPr/>
        </p:nvSpPr>
        <p:spPr>
          <a:xfrm>
            <a:off x="2505224" y="2615431"/>
            <a:ext cx="14288" cy="297656"/>
          </a:xfrm>
          <a:prstGeom prst="roundRect">
            <a:avLst>
              <a:gd name="adj" fmla="val 291711"/>
            </a:avLst>
          </a:prstGeom>
          <a:solidFill>
            <a:srgbClr val="414A70"/>
          </a:solidFill>
          <a:ln/>
        </p:spPr>
      </p:sp>
      <p:sp>
        <p:nvSpPr>
          <p:cNvPr id="8" name="Shape 6"/>
          <p:cNvSpPr/>
          <p:nvPr/>
        </p:nvSpPr>
        <p:spPr>
          <a:xfrm>
            <a:off x="2400746" y="2801466"/>
            <a:ext cx="223242" cy="223242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7954" y="282007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92126" y="1461046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30 Days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5313" y="1657722"/>
            <a:ext cx="3834110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Begin financing preparation using conservative case ($433,118) to size the buffer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Gate discretionary S&amp;M spend until funding path is confirmed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Assign retention plan owner with NRR target above 100%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64856" y="2913087"/>
            <a:ext cx="14288" cy="297656"/>
          </a:xfrm>
          <a:prstGeom prst="roundRect">
            <a:avLst>
              <a:gd name="adj" fmla="val 291711"/>
            </a:avLst>
          </a:prstGeom>
          <a:solidFill>
            <a:srgbClr val="414A70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0379" y="2801466"/>
            <a:ext cx="223242" cy="223242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7586" y="282007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1759" y="3310012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60 Days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4945" y="3506688"/>
            <a:ext cx="3834110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Validate CAC inputs as fully loaded before investor materials are prepared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churn cohort tracking and define save play criteria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Review hiring pace and non-payroll spend against cash runway and scenario triggers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624489" y="2615431"/>
            <a:ext cx="14288" cy="297656"/>
          </a:xfrm>
          <a:prstGeom prst="roundRect">
            <a:avLst>
              <a:gd name="adj" fmla="val 291711"/>
            </a:avLst>
          </a:prstGeom>
          <a:solidFill>
            <a:srgbClr val="414A7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20011" y="2801466"/>
            <a:ext cx="223242" cy="223242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7218" y="282007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11391" y="1461046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90 Days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4577" y="1657722"/>
            <a:ext cx="3834110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Present retention and expansion plan to board with NRR improvement roadmap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Confirm financing timeline and close before Feb-27 minimum threshold breach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 on CAC payback and pipeline quality before adding incremental S&amp;M budget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8974" y="4238180"/>
            <a:ext cx="8151763" cy="476250"/>
          </a:xfrm>
          <a:prstGeom prst="roundRect">
            <a:avLst>
              <a:gd name="adj" fmla="val 8752"/>
            </a:avLst>
          </a:prstGeom>
          <a:solidFill>
            <a:srgbClr val="022349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4300910"/>
            <a:ext cx="123974" cy="9919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8480" y="4267498"/>
            <a:ext cx="7730207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Operating guardrails for board approval:</a:t>
            </a:r>
            <a:r>
              <a:rPr lang="en-US" sz="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(1) No incremental S&amp;M budget without CAC payback confirmation. (2) Hiring gated to cash runway scenario triggers. (3) Monthly cash vs. scenario review at each board meeting until financing closes.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59234"/>
            <a:ext cx="3310607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Board Discussion Questions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073497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Convert discussion into decisions, owners, and timing. Board alignment needed on raise timing, retention target, GTM proof points, and opex flexibility before the next monthly review.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1421606"/>
            <a:ext cx="8151763" cy="2578001"/>
          </a:xfrm>
          <a:prstGeom prst="roundRect">
            <a:avLst>
              <a:gd name="adj" fmla="val 161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224" y="1472803"/>
            <a:ext cx="22418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Question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45247" y="1472803"/>
            <a:ext cx="14252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Metric Trigger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73650" y="1472803"/>
            <a:ext cx="18323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Decision Needed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709172" y="1472803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Owner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0224" y="1705421"/>
            <a:ext cx="22418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Should the raise be sized against base case ($230,700) or conservative case ($433,118)?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5247" y="1705421"/>
            <a:ext cx="142525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Scenario funding need delta: $202,418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73650" y="1705421"/>
            <a:ext cx="18323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Approve raise size and buffer above modeled need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09172" y="1705421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Board / CEO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0224" y="2073027"/>
            <a:ext cx="224187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What is the approved raise trigger given cash breaches $75K in Feb-27 and turns negative in Apr-27?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45247" y="2073027"/>
            <a:ext cx="142525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Cash minimum: Feb-27 · Zero cash: Apr-27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73650" y="2073027"/>
            <a:ext cx="18323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Set financing start date and milestone gate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09172" y="2073027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CEO / CFO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0224" y="2575620"/>
            <a:ext cx="22418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What NRR target should management commit to, given current NRR is 97.5%?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45247" y="2575620"/>
            <a:ext cx="142525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NRR: 97.5% vs. 100%+ benchmark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73650" y="2575620"/>
            <a:ext cx="18323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Approve NRR target and retention plan ownership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09172" y="2575620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Board / CS Lead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0224" y="2943225"/>
            <a:ext cx="22418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What proof points are required to support 5.0% monthly new-customer growth?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45247" y="2943225"/>
            <a:ext cx="142525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New customers: 8.0 → 24.6/month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73650" y="2943225"/>
            <a:ext cx="18323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Define GTM capacity and pipeline coverage requirements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09172" y="2943225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CEO / GTM Lead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0224" y="3310830"/>
            <a:ext cx="22418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Which spend commitments can be delayed if the conservative case begins to develop?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45247" y="3310830"/>
            <a:ext cx="142525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Conservative opex: $106,977/month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73650" y="3310830"/>
            <a:ext cx="18323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Approve spend gate triggers and delay criteria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09172" y="3310830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CFO / Function Heads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0224" y="3678436"/>
            <a:ext cx="2241872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Should S&amp;M spend be gated to CAC payback and pipeline quality before adding budget?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45247" y="3678436"/>
            <a:ext cx="142525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S&amp;M Apr-28: $51,763 · CAC: $1,200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73650" y="3678436"/>
            <a:ext cx="18323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Approve S&amp;M budget gate policy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09172" y="3678436"/>
            <a:ext cx="183475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Board / CFO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96119" y="4077742"/>
            <a:ext cx="8151763" cy="611237"/>
          </a:xfrm>
          <a:prstGeom prst="roundRect">
            <a:avLst>
              <a:gd name="adj" fmla="val 6819"/>
            </a:avLst>
          </a:prstGeom>
          <a:solidFill>
            <a:srgbClr val="181E34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4205362"/>
            <a:ext cx="123974" cy="9919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18480" y="4171950"/>
            <a:ext cx="773020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Closing note:</a:t>
            </a:r>
            <a:r>
              <a:rPr lang="en-US" sz="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The model shows a business with strong unit economics — 78.0% gross margin, 10.8x LTV:CAC, and a clear path to EBITDA profitability — that requires a capital bridge to reach self-funding. The board's primary task is to align on financing timing, retention ambition, and opex guardrails before the Feb-27 risk window opens.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1751</Words>
  <Application>Microsoft Office PowerPoint</Application>
  <PresentationFormat>On-screen Show (16:9)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-apple-system, BlinkMacSystemFont, Segoe UI, Roboto, Helvetica Neue, Arial, sans-serif Medium</vt:lpstr>
      <vt:lpstr>Arial</vt:lpstr>
      <vt:lpstr>Fraunces Medium</vt:lpstr>
      <vt:lpstr>Epilogue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Kailash S</cp:lastModifiedBy>
  <cp:revision>2</cp:revision>
  <dcterms:created xsi:type="dcterms:W3CDTF">2026-05-06T14:34:39Z</dcterms:created>
  <dcterms:modified xsi:type="dcterms:W3CDTF">2026-05-06T14:42:01Z</dcterms:modified>
</cp:coreProperties>
</file>